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14232" y="0"/>
            <a:ext cx="777240" cy="6858000"/>
          </a:xfrm>
          <a:prstGeom prst="rect">
            <a:avLst/>
          </a:prstGeom>
          <a:solidFill>
            <a:srgbClr val="164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28632" y="0"/>
            <a:ext cx="777240" cy="6858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43032" y="0"/>
            <a:ext cx="777240" cy="6858000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7432" y="0"/>
            <a:ext cx="777240" cy="6858000"/>
          </a:xfrm>
          <a:prstGeom prst="rect">
            <a:avLst/>
          </a:prstGeom>
          <a:solidFill>
            <a:srgbClr val="1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0"/>
            <a:ext cx="64008" cy="6858000"/>
          </a:xfrm>
          <a:prstGeom prst="rect">
            <a:avLst/>
          </a:prstGeom>
          <a:solidFill>
            <a:srgbClr val="168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188720"/>
            <a:ext cx="1188720" cy="11887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18872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A0A0A"/>
                </a:solidFill>
              </a:rPr>
              <a:t>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14300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VivriMarket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86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6A34A"/>
                </a:solidFill>
              </a:rPr>
              <a:t>AgriExchange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108960"/>
            <a:ext cx="8412480" cy="713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3108960"/>
            <a:ext cx="8412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A"/>
                </a:solidFill>
              </a:rPr>
              <a:t>  Présentation des nouvelles fonctionnalités — GO Production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160520"/>
            <a:ext cx="2011680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4160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0A"/>
                </a:solidFill>
              </a:rPr>
              <a:t>💬 Chat temps réel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4160520"/>
            <a:ext cx="2011680" cy="47548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4160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0A"/>
                </a:solidFill>
              </a:rPr>
              <a:t>📊 Dashboard stats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160520"/>
            <a:ext cx="201168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160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0A"/>
                </a:solidFill>
              </a:rPr>
              <a:t>⭐ Sponsoring gratuit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4160520"/>
            <a:ext cx="2011680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416052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A0A"/>
                </a:solidFill>
              </a:rPr>
              <a:t>💳 Sponsoring payant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17790"/>
                </a:solidFill>
              </a:rPr>
              <a:t>Mai 2026  |  Mise en production VivriMarket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A34A"/>
                </a:solidFill>
              </a:rPr>
              <a:t>4 nouvelles fonctionnalités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5532120" cy="2331720"/>
          </a:xfrm>
          <a:prstGeom prst="rect">
            <a:avLst/>
          </a:prstGeom>
          <a:solidFill>
            <a:srgbClr val="0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28016" cy="2331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1399032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716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💬  Chat temps réel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47672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Messagerie instantanée agriculteur ↔ acheteur via Socket.IO.
Badge non-lus dans la barre de navigation.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143000"/>
            <a:ext cx="5532120" cy="2331720"/>
          </a:xfrm>
          <a:prstGeom prst="rect">
            <a:avLst/>
          </a:prstGeom>
          <a:solidFill>
            <a:srgbClr val="041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1143000"/>
            <a:ext cx="128016" cy="2331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02552" y="1399032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3716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📊  Dashboard stats agriculteur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947672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Tableau de bord enrichi : vues, contacts, note, chiffre d'affaires.
Graphique de répartition par catégorie.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5532120" cy="2331720"/>
          </a:xfrm>
          <a:prstGeom prst="rect">
            <a:avLst/>
          </a:prstGeom>
          <a:solidFill>
            <a:srgbClr val="2814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128016" cy="2331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5935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319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⭐  Produits sponsorisés (gratuit)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07992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Mise en avant des produits selon le forfait (BLEU=1, GOLD=3, PLATINUM=5).
Carousel homepage + badge doré.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3703320"/>
            <a:ext cx="5532120" cy="2331720"/>
          </a:xfrm>
          <a:prstGeom prst="rect">
            <a:avLst/>
          </a:prstGeom>
          <a:solidFill>
            <a:srgbClr val="180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3703320"/>
            <a:ext cx="128016" cy="2331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02552" y="3959352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9319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💳  Sponsoring payant — 5 000 FCFA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507992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Quand la limite gratuite est atteinte, payer 14 jours de visibilité.
Flux CinetPay + expiration automatique.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56032"/>
            <a:ext cx="621792" cy="6217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Chat temps réel — Fonctionnement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Ce que l'utilisateur voit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5303520" cy="731520"/>
          </a:xfrm>
          <a:prstGeom prst="rect">
            <a:avLst/>
          </a:prstGeom>
          <a:solidFill>
            <a:srgbClr val="06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109728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01368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Icône Messages dans la navbar avec badge rouge (non-lus)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23744"/>
            <a:ext cx="5303520" cy="731520"/>
          </a:xfrm>
          <a:prstGeom prst="rect">
            <a:avLst/>
          </a:prstGeom>
          <a:solidFill>
            <a:srgbClr val="06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23744"/>
            <a:ext cx="109728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151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60904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Liste des conversations avec nom, avatar et horodatage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5303520" cy="731520"/>
          </a:xfrm>
          <a:prstGeom prst="rect">
            <a:avLst/>
          </a:prstGeom>
          <a:solidFill>
            <a:srgbClr val="06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83280"/>
            <a:ext cx="109728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✉️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20440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Zone de chat : bulles vertes (moi) / blanches (autre)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42816"/>
            <a:ext cx="5303520" cy="731520"/>
          </a:xfrm>
          <a:prstGeom prst="rect">
            <a:avLst/>
          </a:prstGeom>
          <a:solidFill>
            <a:srgbClr val="06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42816"/>
            <a:ext cx="109728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342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379976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Bouton « Contacter le vendeur » sur chaque fiche produit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02352"/>
            <a:ext cx="5303520" cy="731520"/>
          </a:xfrm>
          <a:prstGeom prst="rect">
            <a:avLst/>
          </a:prstGeom>
          <a:solidFill>
            <a:srgbClr val="06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102352"/>
            <a:ext cx="109728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937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39512"/>
            <a:ext cx="4343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C"/>
                </a:solidFill>
              </a:rPr>
              <a:t>Badge se met à zéro quand la conversation est ouverte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097280"/>
            <a:ext cx="5394960" cy="5303520"/>
          </a:xfrm>
          <a:prstGeom prst="rect">
            <a:avLst/>
          </a:prstGeom>
          <a:solidFill>
            <a:srgbClr val="04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097280"/>
            <a:ext cx="5394960" cy="502920"/>
          </a:xfrm>
          <a:prstGeom prst="rect">
            <a:avLst/>
          </a:prstGeom>
          <a:solidFill>
            <a:srgbClr val="0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1155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💬  Messages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81360" y="1143000"/>
            <a:ext cx="64008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114300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00200"/>
            <a:ext cx="2011680" cy="48006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1691640"/>
            <a:ext cx="1920240" cy="804672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178308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Amadou 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211226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7790"/>
                </a:solidFill>
              </a:rPr>
              <a:t>Bonjour, disponible 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2651760"/>
            <a:ext cx="1920240" cy="804672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2240" y="278892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27432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Marie 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30723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7790"/>
                </a:solidFill>
              </a:rPr>
              <a:t>Le prix du kilo 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3611880"/>
            <a:ext cx="1920240" cy="804672"/>
          </a:xfrm>
          <a:prstGeom prst="rect">
            <a:avLst/>
          </a:prstGeom>
          <a:solidFill>
            <a:srgbClr val="08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92240" y="3749040"/>
            <a:ext cx="502920" cy="50292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749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J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37033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Jean-P.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403250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7790"/>
                </a:solidFill>
              </a:rPr>
              <a:t>Je prends 50 kg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1600200"/>
            <a:ext cx="3291840" cy="4800600"/>
          </a:xfrm>
          <a:prstGeom prst="rect">
            <a:avLst/>
          </a:prstGeom>
          <a:solidFill>
            <a:srgbClr val="04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29800" y="1828800"/>
            <a:ext cx="1828800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2124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Bonjour ! Vous avez des tomates 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2606040"/>
            <a:ext cx="1554480" cy="5943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4108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Oui, 200 kg disponibles.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12680" y="3383280"/>
            <a:ext cx="1645920" cy="594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04120" y="3474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Quel est le prix au kilo 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49640" y="4160520"/>
            <a:ext cx="1371600" cy="59436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41080" y="42519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350 FCFA/kg franco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58200" y="5989320"/>
            <a:ext cx="3291840" cy="411480"/>
          </a:xfrm>
          <a:prstGeom prst="rect">
            <a:avLst/>
          </a:prstGeom>
          <a:solidFill>
            <a:srgbClr val="06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49640" y="60167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7790"/>
                </a:solidFill>
              </a:rPr>
              <a:t>Écrire un message…</a:t>
            </a:r>
          </a:p>
        </p:txBody>
      </p:sp>
      <p:sp>
        <p:nvSpPr>
          <p:cNvPr id="59" name="Oval 58"/>
          <p:cNvSpPr/>
          <p:nvPr/>
        </p:nvSpPr>
        <p:spPr>
          <a:xfrm>
            <a:off x="11384280" y="5989320"/>
            <a:ext cx="347472" cy="34747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384280" y="59893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A0A"/>
                </a:solidFill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56032"/>
            <a:ext cx="621792" cy="6217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0A0A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8BDF8"/>
                </a:solidFill>
              </a:rPr>
              <a:t>Chat temps réel — 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Stack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5303520" cy="100584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64208"/>
            <a:ext cx="109728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1847088"/>
            <a:ext cx="621792" cy="621792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Socket.IO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79222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Socket.IO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128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WebSocket bidirectionnel — connexion persistante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52928"/>
            <a:ext cx="5303520" cy="100584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52928"/>
            <a:ext cx="109728" cy="1005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3035808"/>
            <a:ext cx="621792" cy="62179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3580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98094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4015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Table messages : sender_id, receiver_id, texte, lu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41648"/>
            <a:ext cx="5303520" cy="100584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41648"/>
            <a:ext cx="109728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8" y="4224528"/>
            <a:ext cx="621792" cy="6217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2452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JWT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JWT Auth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59028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Token dans socket.handshake.auth pour sécuriser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30368"/>
            <a:ext cx="5303520" cy="100584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230368"/>
            <a:ext cx="109728" cy="10058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" y="5413248"/>
            <a:ext cx="621792" cy="6217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413248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Salle perso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35838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Salle perso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57790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Chaque user rejoint socket.join(userId)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0972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Flux d'événements Socket.IO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64208"/>
            <a:ext cx="5577840" cy="448056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664208"/>
            <a:ext cx="64008" cy="4480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801368"/>
            <a:ext cx="5303520" cy="4224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Agriculteur envoie un message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socket.emit('send_message', {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receiverId: acheteurId,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texte: 'Oui 200kg disponibles'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});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Serveur relaie aux deux parties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io.to(senderId).to(receiverId)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.emit('new_message', message);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NavBar : incrément badge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socket.on('new_message', () =&gt; {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if (path !== '/messages')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  setUnreadCount(n =&gt; n + 1);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});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263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17790"/>
                </a:solidFill>
              </a:rPr>
              <a:t>Fichiers modifiés / créés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537960"/>
            <a:ext cx="2176272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5379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SocketContext.jsx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6537960"/>
            <a:ext cx="2176272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44368" y="65379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MessagesPage.jsx + .css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8656" y="6537960"/>
            <a:ext cx="2176272" cy="25603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48656" y="65379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NavBar.jsx + .css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52944" y="6537960"/>
            <a:ext cx="2176272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65379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ProductDetail.jsx + .css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57232" y="6537960"/>
            <a:ext cx="2176272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57232" y="6537960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0A"/>
                </a:solidFill>
              </a:rPr>
              <a:t>server.js (Socket.IO)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56032"/>
            <a:ext cx="621792" cy="6217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</a:rPr>
              <a:t>Dashboard stats agriculteur — 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C"/>
                </a:solidFill>
              </a:rPr>
              <a:t>Nouvelles métriques de performance ajoutées au dashboard agriculteur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697480" cy="1234440"/>
          </a:xfrm>
          <a:prstGeom prst="rect">
            <a:avLst/>
          </a:prstGeom>
          <a:solidFill>
            <a:srgbClr val="0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128016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6479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709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1 248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Vues produits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600200"/>
            <a:ext cx="2697480" cy="1234440"/>
          </a:xfrm>
          <a:prstGeom prst="rect">
            <a:avLst/>
          </a:prstGeom>
          <a:solidFill>
            <a:srgbClr val="04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1600200"/>
            <a:ext cx="128016" cy="1234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176479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09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D4BF"/>
                </a:solidFill>
              </a:rPr>
              <a:t>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Contacts reçus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600200"/>
            <a:ext cx="2697480" cy="1234440"/>
          </a:xfrm>
          <a:prstGeom prst="rect">
            <a:avLst/>
          </a:prstGeom>
          <a:solidFill>
            <a:srgbClr val="281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128016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176479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709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</a:rPr>
              <a:t>4.7/5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Note moyenne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600200"/>
            <a:ext cx="2697480" cy="1234440"/>
          </a:xfrm>
          <a:prstGeom prst="rect">
            <a:avLst/>
          </a:prstGeom>
          <a:solidFill>
            <a:srgbClr val="04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600200"/>
            <a:ext cx="128016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1764792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170992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A34A"/>
                </a:solidFill>
              </a:rPr>
              <a:t>342K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CA estimé (FCFA)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99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État du stock en temps réel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456432"/>
            <a:ext cx="2176272" cy="475488"/>
          </a:xfrm>
          <a:prstGeom prst="rect">
            <a:avLst/>
          </a:prstGeom>
          <a:solidFill>
            <a:srgbClr val="062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456432"/>
            <a:ext cx="109728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3493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Tomates — 120 kg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44368" y="3456432"/>
            <a:ext cx="2176272" cy="475488"/>
          </a:xfrm>
          <a:prstGeom prst="rect">
            <a:avLst/>
          </a:prstGeom>
          <a:solidFill>
            <a:srgbClr val="2814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44368" y="3456432"/>
            <a:ext cx="10972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493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Oignons — 8 kg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48656" y="3456432"/>
            <a:ext cx="2176272" cy="475488"/>
          </a:xfrm>
          <a:prstGeom prst="rect">
            <a:avLst/>
          </a:prstGeom>
          <a:solidFill>
            <a:srgbClr val="28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48656" y="3456432"/>
            <a:ext cx="109728" cy="47548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9824" y="3493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Maïs — 0 kg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52944" y="3456432"/>
            <a:ext cx="2176272" cy="475488"/>
          </a:xfrm>
          <a:prstGeom prst="rect">
            <a:avLst/>
          </a:prstGeom>
          <a:solidFill>
            <a:srgbClr val="0620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552944" y="3456432"/>
            <a:ext cx="109728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4112" y="3493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Piment — 45 kg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57232" y="3456432"/>
            <a:ext cx="2176272" cy="475488"/>
          </a:xfrm>
          <a:prstGeom prst="rect">
            <a:avLst/>
          </a:prstGeom>
          <a:solidFill>
            <a:srgbClr val="2814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57232" y="3456432"/>
            <a:ext cx="109728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0" y="34930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Aubergine — 5 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Répartition par catégorie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5720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Légumes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4626864"/>
            <a:ext cx="3566160" cy="2560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70448" y="457200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</a:rPr>
              <a:t>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956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Tubercules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5010912"/>
            <a:ext cx="251460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18888" y="495604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55%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3400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Fruits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94560" y="5394960"/>
            <a:ext cx="1737360" cy="25603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41648" y="534009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4CC16"/>
                </a:solidFill>
              </a:rPr>
              <a:t>38%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572414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Céréales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94560" y="5779008"/>
            <a:ext cx="100584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10128" y="572414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22%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1081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Épices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0" y="6163056"/>
            <a:ext cx="685800" cy="2560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90088" y="610819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B923C"/>
                </a:solidFill>
              </a:rPr>
              <a:t>15%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Note clients</a:t>
            </a:r>
          </a:p>
        </p:txBody>
      </p:sp>
      <p:sp>
        <p:nvSpPr>
          <p:cNvPr id="60" name="Oval 59"/>
          <p:cNvSpPr/>
          <p:nvPr/>
        </p:nvSpPr>
        <p:spPr>
          <a:xfrm>
            <a:off x="6858000" y="45720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0A0A"/>
                </a:solidFill>
              </a:rPr>
              <a:t>★</a:t>
            </a:r>
          </a:p>
        </p:txBody>
      </p:sp>
      <p:sp>
        <p:nvSpPr>
          <p:cNvPr id="62" name="Oval 61"/>
          <p:cNvSpPr/>
          <p:nvPr/>
        </p:nvSpPr>
        <p:spPr>
          <a:xfrm>
            <a:off x="7516368" y="45720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16368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0A0A"/>
                </a:solidFill>
              </a:rPr>
              <a:t>★</a:t>
            </a:r>
          </a:p>
        </p:txBody>
      </p:sp>
      <p:sp>
        <p:nvSpPr>
          <p:cNvPr id="64" name="Oval 63"/>
          <p:cNvSpPr/>
          <p:nvPr/>
        </p:nvSpPr>
        <p:spPr>
          <a:xfrm>
            <a:off x="8174736" y="45720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74736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0A0A"/>
                </a:solidFill>
              </a:rPr>
              <a:t>★</a:t>
            </a:r>
          </a:p>
        </p:txBody>
      </p:sp>
      <p:sp>
        <p:nvSpPr>
          <p:cNvPr id="66" name="Oval 65"/>
          <p:cNvSpPr/>
          <p:nvPr/>
        </p:nvSpPr>
        <p:spPr>
          <a:xfrm>
            <a:off x="8833104" y="45720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33104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0A0A"/>
                </a:solidFill>
              </a:rPr>
              <a:t>★</a:t>
            </a:r>
          </a:p>
        </p:txBody>
      </p:sp>
      <p:sp>
        <p:nvSpPr>
          <p:cNvPr id="68" name="Oval 67"/>
          <p:cNvSpPr/>
          <p:nvPr/>
        </p:nvSpPr>
        <p:spPr>
          <a:xfrm>
            <a:off x="9491472" y="4572000"/>
            <a:ext cx="548640" cy="548640"/>
          </a:xfrm>
          <a:prstGeom prst="ellipse">
            <a:avLst/>
          </a:prstGeom>
          <a:solidFill>
            <a:srgbClr val="717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91472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A0A0A"/>
                </a:solidFill>
              </a:rPr>
              <a:t>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46177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BBF24"/>
                </a:solidFill>
              </a:rPr>
              <a:t>4.7 / 5  (12 avis)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56032"/>
            <a:ext cx="621792" cy="6217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0A0A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</a:rPr>
              <a:t>Dashboard stats agriculteur — 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DD4BF"/>
                </a:solidFill>
              </a:rPr>
              <a:t>Endpoint  GET /api/v1/products/my-stats  (agriculteur authentifié)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72768"/>
            <a:ext cx="7772400" cy="420624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72768"/>
            <a:ext cx="64008" cy="4206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9928"/>
            <a:ext cx="7498080" cy="3950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mysqlProductRepository.js  —  getSellerStats(sellerId)</a:t>
            </a:r>
          </a:p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6 requêtes agrégées en parallèle :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1. COUNT(*)  FROM products WHERE seller_id = ?  → nb_produits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2. SUM(views) FROM product_views WHERE product_id IN (mes IDs) → vues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3. COUNT(*)  FROM messages WHERE receiver_id = ?   → contacts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4. AVG(note), COUNT(*) FROM seller_reviews WHERE seller_id = ?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5. SUM(amount) FROM product_payments WHERE seller_id = 'active'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>  6. GROUP BY categorie → répartition catégories</a:t>
            </a:r>
          </a:p>
          <a:p>
            <a:pPr algn="l"/>
            <a:r>
              <a:rPr sz="1200">
                <a:solidFill>
                  <a:srgbClr val="7DD3FC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Réponse JSON : { stats: { produits, vues, contacts,</a:t>
            </a:r>
          </a:p>
          <a:p>
            <a:pPr algn="l"/>
            <a:r>
              <a:rPr sz="1200">
                <a:solidFill>
                  <a:srgbClr val="6A996A"/>
                </a:solidFill>
                <a:latin typeface="Consolas"/>
              </a:rPr>
              <a:t>//   noteMoyenne, nbAvis, revenuEstime, categories }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7276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Fichiers impactés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2103120"/>
            <a:ext cx="3291840" cy="960120"/>
          </a:xfrm>
          <a:prstGeom prst="rect">
            <a:avLst/>
          </a:prstGeom>
          <a:solidFill>
            <a:srgbClr val="04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2103120"/>
            <a:ext cx="109728" cy="960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87968" y="219456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mysqlProductRepository.js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2615184"/>
            <a:ext cx="2999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</a:rPr>
              <a:t>+ getSellerStats()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3246120"/>
            <a:ext cx="3291840" cy="960120"/>
          </a:xfrm>
          <a:prstGeom prst="rect">
            <a:avLst/>
          </a:prstGeom>
          <a:solidFill>
            <a:srgbClr val="04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3246120"/>
            <a:ext cx="10972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333756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routes/products.js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758184"/>
            <a:ext cx="2999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A34A"/>
                </a:solidFill>
              </a:rPr>
              <a:t>GET /my-stats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4389120"/>
            <a:ext cx="3291840" cy="960120"/>
          </a:xfrm>
          <a:prstGeom prst="rect">
            <a:avLst/>
          </a:prstGeom>
          <a:solidFill>
            <a:srgbClr val="04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4389120"/>
            <a:ext cx="109728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448056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FarmerDashboard.jsx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4901184"/>
            <a:ext cx="2999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D3EE"/>
                </a:solidFill>
              </a:rPr>
              <a:t>+ section Perf.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5532120"/>
            <a:ext cx="3291840" cy="960120"/>
          </a:xfrm>
          <a:prstGeom prst="rect">
            <a:avLst/>
          </a:prstGeom>
          <a:solidFill>
            <a:srgbClr val="041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5532120"/>
            <a:ext cx="109728" cy="9601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5623560"/>
            <a:ext cx="29992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FarmerDashboard.css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6044184"/>
            <a:ext cx="2999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+ KPI grid + bars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89320"/>
            <a:ext cx="11430000" cy="502920"/>
          </a:xfrm>
          <a:prstGeom prst="rect">
            <a:avLst/>
          </a:prstGeom>
          <a:solidFill>
            <a:srgbClr val="042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989320"/>
            <a:ext cx="128016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35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D4BF"/>
                </a:solidFill>
              </a:rPr>
              <a:t>  Impact : L'agriculteur voit ses performances en temps réel — il peut adapter ses prix, stocks et stratégie de sponsoring.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5603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0A0A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</a:rPr>
              <a:t>Produits sponsorisés — Système gratuit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Comment ça fonctionne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64208"/>
            <a:ext cx="5486400" cy="685800"/>
          </a:xfrm>
          <a:prstGeom prst="rect">
            <a:avLst/>
          </a:prstGeom>
          <a:solidFill>
            <a:srgbClr val="28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755648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9222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L'agriculteur clique « ☆ Sponsoriser » sur un produit dans Mes Produits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59736"/>
            <a:ext cx="5486400" cy="685800"/>
          </a:xfrm>
          <a:prstGeom prst="rect">
            <a:avLst/>
          </a:prstGeom>
          <a:solidFill>
            <a:srgbClr val="28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551176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87752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Le système vérifie sa limite selon son forfait actif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5486400" cy="685800"/>
          </a:xfrm>
          <a:prstGeom prst="rect">
            <a:avLst/>
          </a:prstGeom>
          <a:solidFill>
            <a:srgbClr val="28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346704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383280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Si quota disponible → is_featured = 1 dans la base MySQL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50792"/>
            <a:ext cx="5486400" cy="685800"/>
          </a:xfrm>
          <a:prstGeom prst="rect">
            <a:avLst/>
          </a:prstGeom>
          <a:solidFill>
            <a:srgbClr val="28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142232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7880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Le produit apparaît dans le carousel ⭐ de la page d'accueil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5486400" cy="685800"/>
          </a:xfrm>
          <a:prstGeom prst="rect">
            <a:avLst/>
          </a:prstGeom>
          <a:solidFill>
            <a:srgbClr val="28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8" y="493776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97433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Badge doré « Sponsorisé » affiché sur la fiche et en catégorie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41848"/>
            <a:ext cx="5486400" cy="685800"/>
          </a:xfrm>
          <a:prstGeom prst="rect">
            <a:avLst/>
          </a:prstGeom>
          <a:solidFill>
            <a:srgbClr val="281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" y="5733288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76986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L'agriculteur peut désactiver le sponsoring à tout moment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Limites par forfait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664208"/>
            <a:ext cx="5394960" cy="640080"/>
          </a:xfrm>
          <a:prstGeom prst="rect">
            <a:avLst/>
          </a:prstGeom>
          <a:solidFill>
            <a:srgbClr val="0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664208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75120" y="1773936"/>
            <a:ext cx="1371600" cy="42062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773936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BLEU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 produit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414016"/>
            <a:ext cx="5394960" cy="640080"/>
          </a:xfrm>
          <a:prstGeom prst="rect">
            <a:avLst/>
          </a:prstGeom>
          <a:solidFill>
            <a:srgbClr val="281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2414016"/>
            <a:ext cx="109728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2523744"/>
            <a:ext cx="1371600" cy="42062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523744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GOLD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578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 produits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163824"/>
            <a:ext cx="5394960" cy="640080"/>
          </a:xfrm>
          <a:prstGeom prst="rect">
            <a:avLst/>
          </a:prstGeom>
          <a:solidFill>
            <a:srgbClr val="04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92240" y="3163824"/>
            <a:ext cx="109728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75120" y="3273552"/>
            <a:ext cx="1371600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273552"/>
            <a:ext cx="1371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A0A"/>
                </a:solidFill>
              </a:rPr>
              <a:t>PLATINUM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32841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 produits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Carousel homepage « Produits à la une 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526280"/>
            <a:ext cx="5394960" cy="2011680"/>
          </a:xfrm>
          <a:prstGeom prst="rect">
            <a:avLst/>
          </a:prstGeom>
          <a:solidFill>
            <a:srgbClr val="1A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12064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4617720"/>
            <a:ext cx="1417320" cy="1828800"/>
          </a:xfrm>
          <a:prstGeom prst="rect">
            <a:avLst/>
          </a:prstGeom>
          <a:solidFill>
            <a:srgbClr val="2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242048" y="4681728"/>
            <a:ext cx="1024128" cy="841248"/>
          </a:xfrm>
          <a:prstGeom prst="ellipse">
            <a:avLst/>
          </a:prstGeom>
          <a:solidFill>
            <a:srgbClr val="402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42048" y="4681728"/>
            <a:ext cx="1024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5577840"/>
            <a:ext cx="1417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55778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⭐ Sponsorisé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Tomates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619963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350 FCFA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5360" y="4617720"/>
            <a:ext cx="1417320" cy="1828800"/>
          </a:xfrm>
          <a:prstGeom prst="rect">
            <a:avLst/>
          </a:prstGeom>
          <a:solidFill>
            <a:srgbClr val="2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96528" y="4681728"/>
            <a:ext cx="1024128" cy="841248"/>
          </a:xfrm>
          <a:prstGeom prst="ellipse">
            <a:avLst/>
          </a:prstGeom>
          <a:solidFill>
            <a:srgbClr val="402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96528" y="4681728"/>
            <a:ext cx="1024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5577840"/>
            <a:ext cx="1417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95360" y="55778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⭐ Sponsorisé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80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Maïs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41080" y="619963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280 FCFA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4617720"/>
            <a:ext cx="1417320" cy="1828800"/>
          </a:xfrm>
          <a:prstGeom prst="rect">
            <a:avLst/>
          </a:prstGeom>
          <a:solidFill>
            <a:srgbClr val="2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51008" y="4681728"/>
            <a:ext cx="1024128" cy="841248"/>
          </a:xfrm>
          <a:prstGeom prst="ellipse">
            <a:avLst/>
          </a:prstGeom>
          <a:solidFill>
            <a:srgbClr val="402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51008" y="4681728"/>
            <a:ext cx="102412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149840" y="5577840"/>
            <a:ext cx="1417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49840" y="55778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0A"/>
                </a:solidFill>
              </a:rPr>
              <a:t>⭐ Sponsorisé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95560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Oignons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95560" y="619963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420 FCFA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21440" y="5120640"/>
            <a:ext cx="45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256032"/>
            <a:ext cx="621792" cy="6217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0A0A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560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</a:rPr>
              <a:t>Sponsoring payant — 5 000 FCFA / 14 jours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5303520" cy="3200400"/>
          </a:xfrm>
          <a:prstGeom prst="rect">
            <a:avLst/>
          </a:prstGeom>
          <a:solidFill>
            <a:srgbClr val="1A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5303520" cy="12801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8BFA"/>
                </a:solidFill>
              </a:rPr>
              <a:t>L'offre payante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20240"/>
            <a:ext cx="2011680" cy="1097280"/>
          </a:xfrm>
          <a:prstGeom prst="rect">
            <a:avLst/>
          </a:prstGeom>
          <a:solidFill>
            <a:srgbClr val="2A1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BBF24"/>
                </a:solidFill>
              </a:rPr>
              <a:t>5 000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933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DE68A"/>
                </a:solidFill>
              </a:rPr>
              <a:t>⏱  14 jours de visibilité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14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Activation immédiate
après confirmation du paiement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✅ Affichage prioritaire en page d'accueil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478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✅ Badge doré « Sponsorisé » sur la fiche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9534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✅ Tête de liste dans sa catégorie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4281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✅ Expiration automatique (cron horaire)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4300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Flux de paiement CinetPay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719072"/>
            <a:ext cx="5577840" cy="713232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182880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177393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Limite gratuite atteinte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212140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59E0B"/>
                </a:solidFill>
              </a:rPr>
              <a:t>PUT /products/:id/sponsor → 403 limitReached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42032"/>
            <a:ext cx="5577840" cy="713232"/>
          </a:xfrm>
          <a:prstGeom prst="rect">
            <a:avLst/>
          </a:prstGeom>
          <a:solidFill>
            <a:srgbClr val="1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92240" y="2651760"/>
            <a:ext cx="475488" cy="47548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259689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Modal SponsorPayModal s'ouvre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294436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78BFA"/>
                </a:solidFill>
              </a:rPr>
              <a:t>Affiche l'offre 5 000 FCFA / 14 jours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64992"/>
            <a:ext cx="5577840" cy="713232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0" y="3474720"/>
            <a:ext cx="475488" cy="47548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341985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Clic « Payer 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6" y="376732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8BDF8"/>
                </a:solidFill>
              </a:rPr>
              <a:t>POST /products/:id/sponsor/initiate → CinetPay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187952"/>
            <a:ext cx="5577840" cy="713232"/>
          </a:xfrm>
          <a:prstGeom prst="rect">
            <a:avLst/>
          </a:prstGeom>
          <a:solidFill>
            <a:srgbClr val="1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92240" y="4297680"/>
            <a:ext cx="475488" cy="47548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7456" y="424281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Redirection CinetPay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7456" y="459028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2D3EE"/>
                </a:solidFill>
              </a:rPr>
              <a:t>Mobile Money / carte bancaire acceptés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10912"/>
            <a:ext cx="5577840" cy="713232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5120640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6" y="506577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Retour return_url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7456" y="541324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A34A"/>
                </a:solidFill>
              </a:rPr>
              <a:t>?sponsor_tx=TX&amp;sponsor_pid=PID (ou webhook)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833872"/>
            <a:ext cx="5577840" cy="713232"/>
          </a:xfrm>
          <a:prstGeom prst="rect">
            <a:avLst/>
          </a:prstGeom>
          <a:solidFill>
            <a:srgbClr val="1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92240" y="5943600"/>
            <a:ext cx="475488" cy="47548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A0A0A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7456" y="5888736"/>
            <a:ext cx="4800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Vérification &amp;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77456" y="6236208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D4BF"/>
                </a:solidFill>
              </a:rPr>
              <a:t>GET /sponsor/check → activateSponsor() MySQL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989320"/>
            <a:ext cx="11430000" cy="502920"/>
          </a:xfrm>
          <a:prstGeom prst="rect">
            <a:avLst/>
          </a:prstGeom>
          <a:solidFill>
            <a:srgbClr val="100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5989320"/>
            <a:ext cx="128016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035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C"/>
                </a:solidFill>
              </a:rPr>
              <a:t>  Cron horaire (server.js) : expireOldSponsorships() — remet is_featured=0 quand paid_sponsor_until &lt; NOW(). Run immédiat au démarrage + toutes les heures.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A34A"/>
                </a:solidFill>
              </a:rPr>
              <a:t>Architecture données — Tables MySQL impactées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5532120" cy="2468880"/>
          </a:xfrm>
          <a:prstGeom prst="rect">
            <a:avLst/>
          </a:prstGeom>
          <a:solidFill>
            <a:srgbClr val="0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128016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5532120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978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id INT PK AUTO_INCREMENT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sender_id INT FK →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receiver_id INT FK →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texte TEXT NOT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lu TINYINT DEFAULT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produit_id INT NULL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143000"/>
            <a:ext cx="5532120" cy="2468880"/>
          </a:xfrm>
          <a:prstGeom prst="rect">
            <a:avLst/>
          </a:prstGeom>
          <a:solidFill>
            <a:srgbClr val="2814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43000"/>
            <a:ext cx="128016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143000"/>
            <a:ext cx="553212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19786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products (colonnes ajoutées)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6459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is_featured TINYINT(1) DEFAULT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9659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paid_sponsor_until DATETIME 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2860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  — (colonne ajoutée via dbMigrations.js)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060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  — is_featured existait déjà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94760"/>
            <a:ext cx="5532120" cy="2468880"/>
          </a:xfrm>
          <a:prstGeom prst="rect">
            <a:avLst/>
          </a:prstGeom>
          <a:solidFill>
            <a:srgbClr val="14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94760"/>
            <a:ext cx="128016" cy="24688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794760"/>
            <a:ext cx="5532120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496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product_sponsor_payments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97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id INT PK AUTO_INCREMENT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617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product_id INT FK →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seller_id INT FK →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transaction_id VARCHAR(100) UNIQUE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5778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amount DECIMAL(10,2) DEFAULT 5000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status ENUM(pending,active,expired)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794760"/>
            <a:ext cx="5532120" cy="2468880"/>
          </a:xfrm>
          <a:prstGeom prst="rect">
            <a:avLst/>
          </a:prstGeom>
          <a:solidFill>
            <a:srgbClr val="041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46520" y="3794760"/>
            <a:ext cx="128016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46520" y="3794760"/>
            <a:ext cx="5532120" cy="43891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8496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A"/>
                </a:solidFill>
              </a:rPr>
              <a:t>seller_reviews (lectures)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97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note TINYINT (1-5)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617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seller_id INT FK →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937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C"/>
                </a:solidFill>
              </a:rPr>
              <a:t>  — Agrégation AVG(note) pour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2578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DD3FC"/>
                </a:solidFill>
              </a:rPr>
              <a:t>    le dashboard agriculteur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A34A"/>
                </a:solidFill>
              </a:rPr>
              <a:t>Checklist GO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87552"/>
            <a:ext cx="11155680" cy="27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25272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💬 Chat Socket.IO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72821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Serveur + client testés en local, messages reçus en temps réel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331720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143000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143000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25272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Dashboard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172821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Endpoint /my-stats retourne les 6 métriques, UI affichée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6008" y="2331720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331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43000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43000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25272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⭐ Sponsoring gratuit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72821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Toggle is_featured, limits BLEU/GOLD/PLATINUM, carousel affiché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8" y="2331720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23317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862072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2862072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297180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💳 Sponsoring payant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4472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Flow CinetPay complet : initiate → retour → check → activation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4050792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050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862072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34840" y="2862072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8" y="297180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🔁 Cron expiration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34472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setInterval 1h + run immédiat au démarrage serveur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36008" y="4050792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36008" y="4050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862072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862072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2971800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🗄️ Migration MySQL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8" y="34472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paid_sponsor_until ajouté via dbMigrations.js (idempotent)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0768" y="4050792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30768" y="40507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4581144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4581144"/>
            <a:ext cx="109728" cy="15361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4690872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🔒 Auth JWT Socket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166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socket.handshake.auth.token vérifié avant tout événement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5769864"/>
            <a:ext cx="2103120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769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✅ Prêt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34840" y="4581144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34840" y="4581144"/>
            <a:ext cx="109728" cy="1536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36008" y="4690872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📱 Responsive UI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6008" y="5166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Chat, dashboard, modal CinetPay — testés mobile 480px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36008" y="5769864"/>
            <a:ext cx="21031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36008" y="5769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⚠️ A tester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581144"/>
            <a:ext cx="3611880" cy="1536192"/>
          </a:xfrm>
          <a:prstGeom prst="rect">
            <a:avLst/>
          </a:prstGeom>
          <a:solidFill>
            <a:srgbClr val="0A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4581144"/>
            <a:ext cx="109728" cy="1536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30768" y="4690872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🔑 Vars env production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0768" y="51663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ACC"/>
                </a:solidFill>
              </a:rPr>
              <a:t>CINETPAY_APIKEY, CINETPAY_SITE_ID, JWT_SECRET en prod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30768" y="5769864"/>
            <a:ext cx="21031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30768" y="5769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A0A"/>
                </a:solidFill>
              </a:rPr>
              <a:t>⚠️ Configurer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262872" y="0"/>
            <a:ext cx="47548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65792" y="0"/>
            <a:ext cx="47548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68712" y="0"/>
            <a:ext cx="475488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771632" y="0"/>
            <a:ext cx="475488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74552" y="0"/>
            <a:ext cx="47548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2" y="0"/>
            <a:ext cx="475488" cy="68580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371600"/>
            <a:ext cx="2011680" cy="20116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A0A0A"/>
                </a:solidFill>
              </a:rP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389888"/>
            <a:ext cx="822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16A34A"/>
                </a:solidFill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4 fonctionnalités prêtes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1284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6A34A"/>
                </a:solidFill>
              </a:rPr>
              <a:t>pour la mise en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46120"/>
            <a:ext cx="10058400" cy="685800"/>
          </a:xfrm>
          <a:prstGeom prst="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246120"/>
            <a:ext cx="109728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3375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💬  Chat temps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410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8BDF8"/>
                </a:solidFill>
              </a:rPr>
              <a:t>Socket.IO + badge non-lus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3392424"/>
            <a:ext cx="4114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339242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050792"/>
            <a:ext cx="10058400" cy="68580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050792"/>
            <a:ext cx="109728" cy="685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14223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 Dashboard stats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2153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D4BF"/>
                </a:solidFill>
              </a:rPr>
              <a:t>6 métriques, graphiques, 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4197096"/>
            <a:ext cx="4114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419709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855464"/>
            <a:ext cx="10058400" cy="685800"/>
          </a:xfrm>
          <a:prstGeom prst="rect">
            <a:avLst/>
          </a:prstGeom>
          <a:solidFill>
            <a:srgbClr val="0A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855464"/>
            <a:ext cx="10972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94690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⭐  Sponsoring gratuit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0200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9E0B"/>
                </a:solidFill>
              </a:rPr>
              <a:t>Carousel homepage, limites plan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5001768"/>
            <a:ext cx="4114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500176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660136"/>
            <a:ext cx="10058400" cy="68580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5660136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575157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💳  Sponsoring payant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824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78BFA"/>
                </a:solidFill>
              </a:rPr>
              <a:t>5 000 FCFA, CinetPay, cron expiry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0" y="5806440"/>
            <a:ext cx="4114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58064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A0A"/>
                </a:solidFill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6492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7790"/>
                </a:solidFill>
              </a:rPr>
              <a:t>VivriMarket / AgriExchange  —  Mai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