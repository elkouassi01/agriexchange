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88552" y="0"/>
            <a:ext cx="731520" cy="6858000"/>
          </a:xfrm>
          <a:prstGeom prst="rect">
            <a:avLst/>
          </a:prstGeom>
          <a:solidFill>
            <a:srgbClr val="164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94392" y="0"/>
            <a:ext cx="731520" cy="685800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00232" y="0"/>
            <a:ext cx="731520" cy="6858000"/>
          </a:xfrm>
          <a:prstGeom prst="rect">
            <a:avLst/>
          </a:prstGeom>
          <a:solidFill>
            <a:srgbClr val="2A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0"/>
            <a:ext cx="73152" cy="6858000"/>
          </a:xfrm>
          <a:prstGeom prst="rect">
            <a:avLst/>
          </a:prstGeom>
          <a:solidFill>
            <a:srgbClr val="168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280160"/>
            <a:ext cx="1097280" cy="10972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280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A0A0A"/>
                </a:solidFill>
              </a:rPr>
              <a:t>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18872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AgriExchange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423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22C55E"/>
                </a:solidFill>
              </a:rPr>
              <a:t>VivriMarket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3246120"/>
            <a:ext cx="7772400" cy="685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324612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A0A0A"/>
                </a:solidFill>
              </a:rPr>
              <a:t>  Guide d'installation sur une nouvelle machine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4206240"/>
            <a:ext cx="1783080" cy="475488"/>
          </a:xfrm>
          <a:prstGeom prst="rect">
            <a:avLst/>
          </a:prstGeom>
          <a:solidFill>
            <a:srgbClr val="417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4206240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Node.js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4206240"/>
            <a:ext cx="1783080" cy="475488"/>
          </a:xfrm>
          <a:prstGeom prst="rect">
            <a:avLst/>
          </a:prstGeom>
          <a:solidFill>
            <a:srgbClr val="097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4206240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206240"/>
            <a:ext cx="1783080" cy="475488"/>
          </a:xfrm>
          <a:prstGeom prst="rect">
            <a:avLst/>
          </a:prstGeom>
          <a:solidFill>
            <a:srgbClr val="005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206240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MySQL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4206240"/>
            <a:ext cx="1783080" cy="475488"/>
          </a:xfrm>
          <a:prstGeom prst="rect">
            <a:avLst/>
          </a:prstGeom>
          <a:solidFill>
            <a:srgbClr val="746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4206240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17790"/>
                </a:solidFill>
              </a:rPr>
              <a:t>2026  |  Plateforme agricole full-stack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</a:rPr>
              <a:t>Sommaire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5486400" cy="1005840"/>
          </a:xfrm>
          <a:prstGeom prst="rect">
            <a:avLst/>
          </a:prstGeom>
          <a:solidFill>
            <a:srgbClr val="0F2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109728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490472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Prérequis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1234440"/>
            <a:ext cx="5486400" cy="1005840"/>
          </a:xfrm>
          <a:prstGeom prst="rect">
            <a:avLst/>
          </a:prstGeom>
          <a:solidFill>
            <a:srgbClr val="0F2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1234440"/>
            <a:ext cx="109728" cy="10058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0" y="1490472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Cloner le dépôt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68880"/>
            <a:ext cx="5486400" cy="1005840"/>
          </a:xfrm>
          <a:prstGeom prst="rect">
            <a:avLst/>
          </a:prstGeom>
          <a:solidFill>
            <a:srgbClr val="0F2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468880"/>
            <a:ext cx="109728" cy="100584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2724912"/>
            <a:ext cx="502920" cy="50292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Installer les dépendances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2468880"/>
            <a:ext cx="5486400" cy="1005840"/>
          </a:xfrm>
          <a:prstGeom prst="rect">
            <a:avLst/>
          </a:prstGeom>
          <a:solidFill>
            <a:srgbClr val="0F2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2468880"/>
            <a:ext cx="109728" cy="1005840"/>
          </a:xfrm>
          <a:prstGeom prst="rect">
            <a:avLst/>
          </a:prstGeom>
          <a:solidFill>
            <a:srgbClr val="FBD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75120" y="2724912"/>
            <a:ext cx="502920" cy="502920"/>
          </a:xfrm>
          <a:prstGeom prst="ellipse">
            <a:avLst/>
          </a:prstGeom>
          <a:solidFill>
            <a:srgbClr val="FBD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Variables d'environnement (.env)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03320"/>
            <a:ext cx="5486400" cy="1005840"/>
          </a:xfrm>
          <a:prstGeom prst="rect">
            <a:avLst/>
          </a:prstGeom>
          <a:solidFill>
            <a:srgbClr val="0F2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703320"/>
            <a:ext cx="109728" cy="10058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" y="3959352"/>
            <a:ext cx="502920" cy="5029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0A0A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977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Créer la base de données MySQL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3703320"/>
            <a:ext cx="5486400" cy="1005840"/>
          </a:xfrm>
          <a:prstGeom prst="rect">
            <a:avLst/>
          </a:prstGeom>
          <a:solidFill>
            <a:srgbClr val="0F2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46520" y="3703320"/>
            <a:ext cx="109728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75120" y="3959352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0A0A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977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Démarrer le projet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937760"/>
            <a:ext cx="5486400" cy="1005840"/>
          </a:xfrm>
          <a:prstGeom prst="rect">
            <a:avLst/>
          </a:prstGeom>
          <a:solidFill>
            <a:srgbClr val="0F2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937760"/>
            <a:ext cx="109728" cy="10058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8680" y="5193792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0A0A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212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Créer un compte administrateur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4937760"/>
            <a:ext cx="5486400" cy="1005840"/>
          </a:xfrm>
          <a:prstGeom prst="rect">
            <a:avLst/>
          </a:prstGeom>
          <a:solidFill>
            <a:srgbClr val="0F2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46520" y="4937760"/>
            <a:ext cx="109728" cy="10058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675120" y="5193792"/>
            <a:ext cx="502920" cy="50292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0A0A"/>
                </a:solidFill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212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Options avancées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274320"/>
            <a:ext cx="594360" cy="5943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</a:rPr>
              <a:t>Prérequis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109728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5486400" cy="2057400"/>
          </a:xfrm>
          <a:prstGeom prst="rect">
            <a:avLst/>
          </a:prstGeom>
          <a:solidFill>
            <a:srgbClr val="062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146304" cy="2057400"/>
          </a:xfrm>
          <a:prstGeom prst="rect">
            <a:avLst/>
          </a:prstGeom>
          <a:solidFill>
            <a:srgbClr val="417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Node.js  &gt;=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C"/>
                </a:solidFill>
              </a:rPr>
              <a:t>LTS recommandé  —  nodejs.org</a:t>
            </a:r>
          </a:p>
        </p:txBody>
      </p:sp>
      <p:sp>
        <p:nvSpPr>
          <p:cNvPr id="10" name="Oval 9"/>
          <p:cNvSpPr/>
          <p:nvPr/>
        </p:nvSpPr>
        <p:spPr>
          <a:xfrm>
            <a:off x="5074920" y="1508760"/>
            <a:ext cx="594360" cy="411480"/>
          </a:xfrm>
          <a:prstGeom prst="ellipse">
            <a:avLst/>
          </a:prstGeom>
          <a:solidFill>
            <a:srgbClr val="417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50876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0A"/>
                </a:solidFill>
              </a:rPr>
              <a:t>REQ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234440"/>
            <a:ext cx="5486400" cy="20574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234440"/>
            <a:ext cx="146304" cy="2057400"/>
          </a:xfrm>
          <a:prstGeom prst="rect">
            <a:avLst/>
          </a:prstGeom>
          <a:solidFill>
            <a:srgbClr val="005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MySQL  8.x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148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C"/>
                </a:solidFill>
              </a:rPr>
              <a:t>dev.mysql.com/downloads/mysql/</a:t>
            </a:r>
          </a:p>
        </p:txBody>
      </p:sp>
      <p:sp>
        <p:nvSpPr>
          <p:cNvPr id="16" name="Oval 15"/>
          <p:cNvSpPr/>
          <p:nvPr/>
        </p:nvSpPr>
        <p:spPr>
          <a:xfrm>
            <a:off x="10835640" y="1508760"/>
            <a:ext cx="594360" cy="411480"/>
          </a:xfrm>
          <a:prstGeom prst="ellipse">
            <a:avLst/>
          </a:prstGeom>
          <a:solidFill>
            <a:srgbClr val="005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5640" y="150876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0A"/>
                </a:solidFill>
              </a:rPr>
              <a:t>REQ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5486400" cy="2057400"/>
          </a:xfrm>
          <a:prstGeom prst="rect">
            <a:avLst/>
          </a:prstGeom>
          <a:solidFill>
            <a:srgbClr val="280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566160"/>
            <a:ext cx="146304" cy="2057400"/>
          </a:xfrm>
          <a:prstGeom prst="rect">
            <a:avLst/>
          </a:prstGeom>
          <a:solidFill>
            <a:srgbClr val="F05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86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Git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480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C"/>
                </a:solidFill>
              </a:rPr>
              <a:t>git-scm.com  (version ≥ 2.40)</a:t>
            </a:r>
          </a:p>
        </p:txBody>
      </p:sp>
      <p:sp>
        <p:nvSpPr>
          <p:cNvPr id="22" name="Oval 21"/>
          <p:cNvSpPr/>
          <p:nvPr/>
        </p:nvSpPr>
        <p:spPr>
          <a:xfrm>
            <a:off x="5074920" y="3840480"/>
            <a:ext cx="594360" cy="411480"/>
          </a:xfrm>
          <a:prstGeom prst="ellipse">
            <a:avLst/>
          </a:prstGeom>
          <a:solidFill>
            <a:srgbClr val="F05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384048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0A"/>
                </a:solidFill>
              </a:rPr>
              <a:t>REQ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566160"/>
            <a:ext cx="5486400" cy="2057400"/>
          </a:xfrm>
          <a:prstGeom prst="rect">
            <a:avLst/>
          </a:prstGeom>
          <a:solidFill>
            <a:srgbClr val="20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566160"/>
            <a:ext cx="146304" cy="20574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886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npm  &gt;= 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80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C"/>
                </a:solidFill>
              </a:rPr>
              <a:t>Inclus automatiquement avec Node.js</a:t>
            </a:r>
          </a:p>
        </p:txBody>
      </p:sp>
      <p:sp>
        <p:nvSpPr>
          <p:cNvPr id="28" name="Oval 27"/>
          <p:cNvSpPr/>
          <p:nvPr/>
        </p:nvSpPr>
        <p:spPr>
          <a:xfrm>
            <a:off x="10835640" y="3840480"/>
            <a:ext cx="594360" cy="4114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35640" y="384048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0A"/>
                </a:solidFill>
              </a:rPr>
              <a:t>REQ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274320"/>
            <a:ext cx="594360" cy="5943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2D3EE"/>
                </a:solidFill>
              </a:rPr>
              <a:t>Cloner le dépôt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10972800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solidFill>
            <a:srgbClr val="07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D3EE"/>
                </a:solidFill>
              </a:rPr>
              <a:t>  Ouvrez un terminal (PowerShell, Git Bash ou cmd) puis copiez ces commandes 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881360" cy="3291840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64008" cy="3291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47672"/>
            <a:ext cx="10561320" cy="2999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6A996A"/>
                </a:solidFill>
                <a:latin typeface="Consolas"/>
              </a:rPr>
              <a:t># 1. Se placer dans le dossier de votre choix</a:t>
            </a:r>
          </a:p>
          <a:p>
            <a:pPr algn="l"/>
            <a:r>
              <a:rPr sz="1300">
                <a:solidFill>
                  <a:srgbClr val="FBD524"/>
                </a:solidFill>
                <a:latin typeface="Consolas"/>
              </a:rPr>
              <a:t>cd C:\Projets</a:t>
            </a:r>
          </a:p>
          <a:p>
            <a:pPr algn="l"/>
            <a:r>
              <a:rPr sz="1300">
                <a:solidFill>
                  <a:srgbClr val="7DD3FC"/>
                </a:solidFill>
                <a:latin typeface="Consolas"/>
              </a:rPr>
              <a:t/>
            </a:r>
          </a:p>
          <a:p>
            <a:pPr algn="l"/>
            <a:r>
              <a:rPr sz="1300">
                <a:solidFill>
                  <a:srgbClr val="6A996A"/>
                </a:solidFill>
                <a:latin typeface="Consolas"/>
              </a:rPr>
              <a:t># 2. Cloner le depot</a:t>
            </a:r>
          </a:p>
          <a:p>
            <a:pPr algn="l"/>
            <a:r>
              <a:rPr sz="1300">
                <a:solidFill>
                  <a:srgbClr val="FBD524"/>
                </a:solidFill>
                <a:latin typeface="Consolas"/>
              </a:rPr>
              <a:t>git clone https://github.com/&lt;votre-org&gt;/AgriExchange.git</a:t>
            </a:r>
          </a:p>
          <a:p>
            <a:pPr algn="l"/>
            <a:r>
              <a:rPr sz="1300">
                <a:solidFill>
                  <a:srgbClr val="7DD3FC"/>
                </a:solidFill>
                <a:latin typeface="Consolas"/>
              </a:rPr>
              <a:t/>
            </a:r>
          </a:p>
          <a:p>
            <a:pPr algn="l"/>
            <a:r>
              <a:rPr sz="1300">
                <a:solidFill>
                  <a:srgbClr val="6A996A"/>
                </a:solidFill>
                <a:latin typeface="Consolas"/>
              </a:rPr>
              <a:t># 3. Entrer dans le dossier</a:t>
            </a:r>
          </a:p>
          <a:p>
            <a:pPr algn="l"/>
            <a:r>
              <a:rPr sz="1300">
                <a:solidFill>
                  <a:srgbClr val="FBD524"/>
                </a:solidFill>
                <a:latin typeface="Consolas"/>
              </a:rPr>
              <a:t>cd AgriExchange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257800"/>
            <a:ext cx="10881360" cy="822960"/>
          </a:xfrm>
          <a:prstGeom prst="rect">
            <a:avLst/>
          </a:prstGeom>
          <a:solidFill>
            <a:srgbClr val="07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257800"/>
            <a:ext cx="128016" cy="822960"/>
          </a:xfrm>
          <a:prstGeom prst="rect">
            <a:avLst/>
          </a:prstGeom>
          <a:solidFill>
            <a:srgbClr val="FBD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8523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BD524"/>
                </a:solidFill>
              </a:rPr>
              <a:t>  Remplacez &lt;votre-org&gt; par le compte GitHub réel du projet.
  Si le dépôt est privé, assurez-vous d'avoir accès SSH ou un Personal Access Token.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274320"/>
            <a:ext cx="594360" cy="59436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4CC16"/>
                </a:solidFill>
              </a:rPr>
              <a:t>Installer les dépendances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10972800" cy="2743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5349240" cy="502920"/>
          </a:xfrm>
          <a:prstGeom prst="rect">
            <a:avLst/>
          </a:prstGeom>
          <a:solidFill>
            <a:srgbClr val="1E3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4CC16"/>
                </a:solidFill>
              </a:rPr>
              <a:t>  Serveur  (Node.js / Express)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349240" cy="1417320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64008" cy="1417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502920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FBD524"/>
                </a:solidFill>
                <a:latin typeface="Consolas"/>
              </a:rPr>
              <a:t>cd server</a:t>
            </a:r>
          </a:p>
          <a:p>
            <a:pPr algn="l"/>
            <a:r>
              <a:rPr sz="1300">
                <a:solidFill>
                  <a:srgbClr val="FBD524"/>
                </a:solidFill>
                <a:latin typeface="Consolas"/>
              </a:rPr>
              <a:t>npm install</a:t>
            </a:r>
          </a:p>
          <a:p>
            <a:pPr algn="l"/>
            <a:r>
              <a:rPr sz="1300">
                <a:solidFill>
                  <a:srgbClr val="FBD524"/>
                </a:solidFill>
                <a:latin typeface="Consolas"/>
              </a:rPr>
              <a:t>cd 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143000"/>
            <a:ext cx="5029200" cy="502920"/>
          </a:xfrm>
          <a:prstGeom prst="rect">
            <a:avLst/>
          </a:prstGeom>
          <a:solidFill>
            <a:srgbClr val="09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143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  Client  (React / Vite)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691640"/>
            <a:ext cx="5029200" cy="1417320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1691640"/>
            <a:ext cx="64008" cy="1417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856232"/>
            <a:ext cx="470916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FBD524"/>
                </a:solidFill>
                <a:latin typeface="Consolas"/>
              </a:rPr>
              <a:t>cd client</a:t>
            </a:r>
          </a:p>
          <a:p>
            <a:pPr algn="l"/>
            <a:r>
              <a:rPr sz="1300">
                <a:solidFill>
                  <a:srgbClr val="FBD524"/>
                </a:solidFill>
                <a:latin typeface="Consolas"/>
              </a:rPr>
              <a:t>npm install</a:t>
            </a:r>
          </a:p>
          <a:p>
            <a:pPr algn="l"/>
            <a:r>
              <a:rPr sz="1300">
                <a:solidFill>
                  <a:srgbClr val="FBD524"/>
                </a:solidFill>
                <a:latin typeface="Consolas"/>
              </a:rPr>
              <a:t>cd 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194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84CC16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337560"/>
            <a:ext cx="10881360" cy="457200"/>
          </a:xfrm>
          <a:prstGeom prst="rect">
            <a:avLst/>
          </a:prstGeom>
          <a:solidFill>
            <a:srgbClr val="142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375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Résultat attendu 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840480"/>
            <a:ext cx="10881360" cy="1051560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840480"/>
            <a:ext cx="64008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005072"/>
            <a:ext cx="10561320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7DD3FC"/>
                </a:solidFill>
                <a:latin typeface="Consolas"/>
              </a:rPr>
              <a:t>server/node_modules/   OK</a:t>
            </a:r>
          </a:p>
          <a:p>
            <a:pPr algn="l"/>
            <a:r>
              <a:rPr sz="1300">
                <a:solidFill>
                  <a:srgbClr val="7DD3FC"/>
                </a:solidFill>
                <a:latin typeface="Consolas"/>
              </a:rPr>
              <a:t>client/node_modules/   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120640"/>
            <a:ext cx="10881360" cy="777240"/>
          </a:xfrm>
          <a:prstGeom prst="rect">
            <a:avLst/>
          </a:prstGeom>
          <a:solidFill>
            <a:srgbClr val="281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120640"/>
            <a:ext cx="128016" cy="7772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14807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B923C"/>
                </a:solidFill>
              </a:rPr>
              <a:t>  Si vous voyez des npm WARN peer : c'est généralement ignorable.
  En cas d'erreur EACCES (Linux/macOS) : sudo chown -R $(whoami) ~/.npm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BD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274320"/>
            <a:ext cx="594360" cy="594360"/>
          </a:xfrm>
          <a:prstGeom prst="ellipse">
            <a:avLst/>
          </a:prstGeom>
          <a:solidFill>
            <a:srgbClr val="FBD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BD524"/>
                </a:solidFill>
              </a:rPr>
              <a:t>Variables d'environnement  (.env)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10972800" cy="27432"/>
          </a:xfrm>
          <a:prstGeom prst="rect">
            <a:avLst/>
          </a:prstGeom>
          <a:solidFill>
            <a:srgbClr val="FBD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solidFill>
            <a:srgbClr val="282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D524"/>
                </a:solidFill>
              </a:rPr>
              <a:t>  1)  Copier le fichier exemple 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64208"/>
            <a:ext cx="10881360" cy="1874519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64208"/>
            <a:ext cx="64008" cy="187451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561320" cy="15819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6A996A"/>
                </a:solidFill>
                <a:latin typeface="Consolas"/>
              </a:rPr>
              <a:t># Windows (PowerShell)</a:t>
            </a:r>
          </a:p>
          <a:p>
            <a:pPr algn="l"/>
            <a:r>
              <a:rPr sz="1300">
                <a:solidFill>
                  <a:srgbClr val="FBD524"/>
                </a:solidFill>
                <a:latin typeface="Consolas"/>
              </a:rPr>
              <a:t>Copy-Item server\.env.example  server\.env</a:t>
            </a:r>
          </a:p>
          <a:p>
            <a:pPr algn="l"/>
            <a:r>
              <a:rPr sz="1300">
                <a:solidFill>
                  <a:srgbClr val="7DD3FC"/>
                </a:solidFill>
                <a:latin typeface="Consolas"/>
              </a:rPr>
              <a:t/>
            </a:r>
          </a:p>
          <a:p>
            <a:pPr algn="l"/>
            <a:r>
              <a:rPr sz="1300">
                <a:solidFill>
                  <a:srgbClr val="6A996A"/>
                </a:solidFill>
                <a:latin typeface="Consolas"/>
              </a:rPr>
              <a:t># Linux / macOS</a:t>
            </a:r>
          </a:p>
          <a:p>
            <a:pPr algn="l"/>
            <a:r>
              <a:rPr sz="1300">
                <a:solidFill>
                  <a:srgbClr val="FBD524"/>
                </a:solidFill>
                <a:latin typeface="Consolas"/>
              </a:rPr>
              <a:t>cp server/.env.example  server/.env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2)  Valeurs obligatoires à renseigner 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06240"/>
            <a:ext cx="5212080" cy="749808"/>
          </a:xfrm>
          <a:prstGeom prst="rect">
            <a:avLst/>
          </a:prstGeom>
          <a:solidFill>
            <a:srgbClr val="180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06240"/>
            <a:ext cx="128016" cy="7498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702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MYSQL_PASSWORD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268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</a:rPr>
              <a:t>Mot de passe de votre compte MySQL root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4206240"/>
            <a:ext cx="5212080" cy="749808"/>
          </a:xfrm>
          <a:prstGeom prst="rect">
            <a:avLst/>
          </a:prstGeom>
          <a:solidFill>
            <a:srgbClr val="180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206240"/>
            <a:ext cx="128016" cy="7498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2702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JWT_SECRET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6268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</a:rPr>
              <a:t>Chaîne aléatoire &gt;= 32 caractères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074920"/>
            <a:ext cx="5212080" cy="749808"/>
          </a:xfrm>
          <a:prstGeom prst="rect">
            <a:avLst/>
          </a:prstGeom>
          <a:solidFill>
            <a:srgbClr val="180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074920"/>
            <a:ext cx="128016" cy="7498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1389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REFRESH_SECRET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49554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</a:rPr>
              <a:t>Autre chaîne aléatoire &gt;= 32 caractères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5074920"/>
            <a:ext cx="5212080" cy="749808"/>
          </a:xfrm>
          <a:prstGeom prst="rect">
            <a:avLst/>
          </a:prstGeom>
          <a:solidFill>
            <a:srgbClr val="180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0760" y="5074920"/>
            <a:ext cx="128016" cy="7498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51389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</a:rPr>
              <a:t>MYSQL_DATABASE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49554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</a:rPr>
              <a:t>Nom de la base  (défaut : agriexchange)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BD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274320"/>
            <a:ext cx="594360" cy="59436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A0A0A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B923C"/>
                </a:solidFill>
              </a:rPr>
              <a:t>Créer la base de données MySQL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10972800" cy="2743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1)  Créer la base (une seule fois) :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18488"/>
            <a:ext cx="10881360" cy="1417320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18488"/>
            <a:ext cx="64008" cy="1417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105613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FBD524"/>
                </a:solidFill>
                <a:latin typeface="Consolas"/>
              </a:rPr>
              <a:t>mysql -u root -p</a:t>
            </a:r>
          </a:p>
          <a:p>
            <a:pPr algn="l"/>
            <a:r>
              <a:rPr sz="1300">
                <a:solidFill>
                  <a:srgbClr val="FBD524"/>
                </a:solidFill>
                <a:latin typeface="Consolas"/>
              </a:rPr>
              <a:t>CREATE DATABASE agriexchange CHARACTER SET utf8mb4 COLLATE utf8mb4_unicode_ci;</a:t>
            </a:r>
          </a:p>
          <a:p>
            <a:pPr algn="l"/>
            <a:r>
              <a:rPr sz="1300">
                <a:solidFill>
                  <a:srgbClr val="FBD524"/>
                </a:solidFill>
                <a:latin typeface="Consolas"/>
              </a:rPr>
              <a:t>EXIT;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2)  Lancer la migration automatique 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75887"/>
            <a:ext cx="10881360" cy="1508760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675887"/>
            <a:ext cx="64008" cy="1508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840479"/>
            <a:ext cx="10561320" cy="1216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FBD524"/>
                </a:solidFill>
                <a:latin typeface="Consolas"/>
              </a:rPr>
              <a:t>cd server</a:t>
            </a:r>
          </a:p>
          <a:p>
            <a:pPr algn="l"/>
            <a:r>
              <a:rPr sz="1300">
                <a:solidFill>
                  <a:srgbClr val="FBD524"/>
                </a:solidFill>
                <a:latin typeface="Consolas"/>
              </a:rPr>
              <a:t>node scripts/migrate.js</a:t>
            </a:r>
          </a:p>
          <a:p>
            <a:pPr algn="l"/>
            <a:r>
              <a:rPr sz="1300">
                <a:solidFill>
                  <a:srgbClr val="7DD3FC"/>
                </a:solidFill>
                <a:latin typeface="Consolas"/>
              </a:rPr>
              <a:t/>
            </a:r>
          </a:p>
          <a:p>
            <a:pPr algn="l"/>
            <a:r>
              <a:rPr sz="1300">
                <a:solidFill>
                  <a:srgbClr val="6A996A"/>
                </a:solidFill>
                <a:latin typeface="Consolas"/>
              </a:rPr>
              <a:t># Toutes les tables sont creees automatiquement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394960"/>
            <a:ext cx="10881360" cy="640080"/>
          </a:xfrm>
          <a:prstGeom prst="rect">
            <a:avLst/>
          </a:prstGeom>
          <a:solidFill>
            <a:srgbClr val="2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28016" cy="6400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5486400"/>
            <a:ext cx="1737360" cy="384048"/>
          </a:xfrm>
          <a:prstGeom prst="ellipse">
            <a:avLst/>
          </a:prstGeom>
          <a:solidFill>
            <a:srgbClr val="401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4864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923C"/>
                </a:solidFill>
              </a:rPr>
              <a:t>users</a:t>
            </a:r>
          </a:p>
        </p:txBody>
      </p:sp>
      <p:sp>
        <p:nvSpPr>
          <p:cNvPr id="18" name="Oval 17"/>
          <p:cNvSpPr/>
          <p:nvPr/>
        </p:nvSpPr>
        <p:spPr>
          <a:xfrm>
            <a:off x="3063240" y="5486400"/>
            <a:ext cx="1737360" cy="384048"/>
          </a:xfrm>
          <a:prstGeom prst="ellipse">
            <a:avLst/>
          </a:prstGeom>
          <a:solidFill>
            <a:srgbClr val="401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3240" y="54864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923C"/>
                </a:solidFill>
              </a:rPr>
              <a:t>produits</a:t>
            </a:r>
          </a:p>
        </p:txBody>
      </p:sp>
      <p:sp>
        <p:nvSpPr>
          <p:cNvPr id="20" name="Oval 19"/>
          <p:cNvSpPr/>
          <p:nvPr/>
        </p:nvSpPr>
        <p:spPr>
          <a:xfrm>
            <a:off x="5120640" y="5486400"/>
            <a:ext cx="1737360" cy="384048"/>
          </a:xfrm>
          <a:prstGeom prst="ellipse">
            <a:avLst/>
          </a:prstGeom>
          <a:solidFill>
            <a:srgbClr val="401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54864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923C"/>
                </a:solidFill>
              </a:rPr>
              <a:t>abonnements</a:t>
            </a:r>
          </a:p>
        </p:txBody>
      </p:sp>
      <p:sp>
        <p:nvSpPr>
          <p:cNvPr id="22" name="Oval 21"/>
          <p:cNvSpPr/>
          <p:nvPr/>
        </p:nvSpPr>
        <p:spPr>
          <a:xfrm>
            <a:off x="7178040" y="5486400"/>
            <a:ext cx="1737360" cy="384048"/>
          </a:xfrm>
          <a:prstGeom prst="ellipse">
            <a:avLst/>
          </a:prstGeom>
          <a:solidFill>
            <a:srgbClr val="401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54864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923C"/>
                </a:solidFill>
              </a:rPr>
              <a:t>contact_requests</a:t>
            </a:r>
          </a:p>
        </p:txBody>
      </p:sp>
      <p:sp>
        <p:nvSpPr>
          <p:cNvPr id="24" name="Oval 23"/>
          <p:cNvSpPr/>
          <p:nvPr/>
        </p:nvSpPr>
        <p:spPr>
          <a:xfrm>
            <a:off x="9235440" y="5486400"/>
            <a:ext cx="1737360" cy="384048"/>
          </a:xfrm>
          <a:prstGeom prst="ellipse">
            <a:avLst/>
          </a:prstGeom>
          <a:solidFill>
            <a:srgbClr val="401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54864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923C"/>
                </a:solidFill>
              </a:rPr>
              <a:t>paiements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274320"/>
            <a:ext cx="594360" cy="5943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A0A0A"/>
                </a:solidFill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2C55E"/>
                </a:solidFill>
              </a:rPr>
              <a:t>Démarrer le projet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10972800" cy="27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5349240" cy="502920"/>
          </a:xfrm>
          <a:prstGeom prst="rect">
            <a:avLst/>
          </a:prstGeom>
          <a:solidFill>
            <a:srgbClr val="09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  Terminal 1  —  Serveur API  (port 5000)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349240" cy="2514600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64008" cy="2514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5029200" cy="2221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FBD524"/>
                </a:solidFill>
                <a:latin typeface="Consolas"/>
              </a:rPr>
              <a:t>cd server</a:t>
            </a:r>
          </a:p>
          <a:p>
            <a:pPr algn="l"/>
            <a:r>
              <a:rPr sz="1300">
                <a:solidFill>
                  <a:srgbClr val="FBD524"/>
                </a:solidFill>
                <a:latin typeface="Consolas"/>
              </a:rPr>
              <a:t>npm run dev</a:t>
            </a:r>
          </a:p>
          <a:p>
            <a:pPr algn="l"/>
            <a:r>
              <a:rPr sz="1300">
                <a:solidFill>
                  <a:srgbClr val="7DD3FC"/>
                </a:solidFill>
                <a:latin typeface="Consolas"/>
              </a:rPr>
              <a:t/>
            </a:r>
          </a:p>
          <a:p>
            <a:pPr algn="l"/>
            <a:r>
              <a:rPr sz="1300">
                <a:solidFill>
                  <a:srgbClr val="6A996A"/>
                </a:solidFill>
                <a:latin typeface="Consolas"/>
              </a:rPr>
              <a:t># Sortie attendue :</a:t>
            </a:r>
          </a:p>
          <a:p>
            <a:pPr algn="l"/>
            <a:r>
              <a:rPr sz="1300">
                <a:solidFill>
                  <a:srgbClr val="6A996A"/>
                </a:solidFill>
                <a:latin typeface="Consolas"/>
              </a:rPr>
              <a:t># MySQL pool ready</a:t>
            </a:r>
          </a:p>
          <a:p>
            <a:pPr algn="l"/>
            <a:r>
              <a:rPr sz="1300">
                <a:solidFill>
                  <a:srgbClr val="6A996A"/>
                </a:solidFill>
                <a:latin typeface="Consolas"/>
              </a:rPr>
              <a:t># Serveur demarre sur :5000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143000"/>
            <a:ext cx="5029200" cy="502920"/>
          </a:xfrm>
          <a:prstGeom prst="rect">
            <a:avLst/>
          </a:prstGeom>
          <a:solidFill>
            <a:srgbClr val="0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143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  Terminal 2  —  Client React  (port 5173)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1691640"/>
            <a:ext cx="5029200" cy="2514600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1691640"/>
            <a:ext cx="64008" cy="2514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856232"/>
            <a:ext cx="4709160" cy="2221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FBD524"/>
                </a:solidFill>
                <a:latin typeface="Consolas"/>
              </a:rPr>
              <a:t>cd client</a:t>
            </a:r>
          </a:p>
          <a:p>
            <a:pPr algn="l"/>
            <a:r>
              <a:rPr sz="1300">
                <a:solidFill>
                  <a:srgbClr val="FBD524"/>
                </a:solidFill>
                <a:latin typeface="Consolas"/>
              </a:rPr>
              <a:t>npm run dev</a:t>
            </a:r>
          </a:p>
          <a:p>
            <a:pPr algn="l"/>
            <a:r>
              <a:rPr sz="1300">
                <a:solidFill>
                  <a:srgbClr val="7DD3FC"/>
                </a:solidFill>
                <a:latin typeface="Consolas"/>
              </a:rPr>
              <a:t/>
            </a:r>
          </a:p>
          <a:p>
            <a:pPr algn="l"/>
            <a:r>
              <a:rPr sz="1300">
                <a:solidFill>
                  <a:srgbClr val="6A996A"/>
                </a:solidFill>
                <a:latin typeface="Consolas"/>
              </a:rPr>
              <a:t># Sortie attendue :</a:t>
            </a:r>
          </a:p>
          <a:p>
            <a:pPr algn="l"/>
            <a:r>
              <a:rPr sz="1300">
                <a:solidFill>
                  <a:srgbClr val="6A996A"/>
                </a:solidFill>
                <a:latin typeface="Consolas"/>
              </a:rPr>
              <a:t># VITE v5.x  ready</a:t>
            </a:r>
          </a:p>
          <a:p>
            <a:pPr algn="l"/>
            <a:r>
              <a:rPr sz="1300">
                <a:solidFill>
                  <a:srgbClr val="6A996A"/>
                </a:solidFill>
                <a:latin typeface="Consolas"/>
              </a:rPr>
              <a:t>#   Local: http://localhost:5173/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434840"/>
            <a:ext cx="10881360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0A0A"/>
                </a:solidFill>
              </a:rPr>
              <a:t>Ouvrez  http://localhost:5173  dans votre navigateur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17790"/>
                </a:solidFill>
              </a:rPr>
              <a:t>Les deux serveurs doivent être démarrés en même temps.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274320"/>
            <a:ext cx="594360" cy="5943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A0A0A"/>
                </a:solidFill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78BFA"/>
                </a:solidFill>
              </a:rPr>
              <a:t>Créer un compte administrateur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10972800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solidFill>
            <a:srgbClr val="180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  Option A  —  Script Node.js  (recommandé)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64208"/>
            <a:ext cx="10881360" cy="3063240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64208"/>
            <a:ext cx="64008" cy="3063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561320" cy="2770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FBD524"/>
                </a:solidFill>
                <a:latin typeface="Consolas"/>
              </a:rPr>
              <a:t>cd server</a:t>
            </a:r>
          </a:p>
          <a:p>
            <a:pPr algn="l"/>
            <a:r>
              <a:rPr sz="1300">
                <a:solidFill>
                  <a:srgbClr val="FBD524"/>
                </a:solidFill>
                <a:latin typeface="Consolas"/>
              </a:rPr>
              <a:t>node -e "</a:t>
            </a:r>
          </a:p>
          <a:p>
            <a:pPr algn="l"/>
            <a:r>
              <a:rPr sz="1300">
                <a:solidFill>
                  <a:srgbClr val="7DD3FC"/>
                </a:solidFill>
                <a:latin typeface="Consolas"/>
              </a:rPr>
              <a:t>  const bcrypt = require('bcryptjs');</a:t>
            </a:r>
          </a:p>
          <a:p>
            <a:pPr algn="l"/>
            <a:r>
              <a:rPr sz="1300">
                <a:solidFill>
                  <a:srgbClr val="7DD3FC"/>
                </a:solidFill>
                <a:latin typeface="Consolas"/>
              </a:rPr>
              <a:t>  const { getMysqlPool } = require('./config/mysql');</a:t>
            </a:r>
          </a:p>
          <a:p>
            <a:pPr algn="l"/>
            <a:r>
              <a:rPr sz="1300">
                <a:solidFill>
                  <a:srgbClr val="7DD3FC"/>
                </a:solidFill>
                <a:latin typeface="Consolas"/>
              </a:rPr>
              <a:t>  const pool = getMysqlPool();</a:t>
            </a:r>
          </a:p>
          <a:p>
            <a:pPr algn="l"/>
            <a:r>
              <a:rPr sz="1300">
                <a:solidFill>
                  <a:srgbClr val="7DD3FC"/>
                </a:solidFill>
                <a:latin typeface="Consolas"/>
              </a:rPr>
              <a:t>  const hash = bcrypt.hashSync('Admin1234!', 12);</a:t>
            </a:r>
          </a:p>
          <a:p>
            <a:pPr algn="l"/>
            <a:r>
              <a:rPr sz="1300">
                <a:solidFill>
                  <a:srgbClr val="7DD3FC"/>
                </a:solidFill>
                <a:latin typeface="Consolas"/>
              </a:rPr>
              <a:t>  pool.query('INSERT INTO users (nom,email,motDePasse,role,estActif,isVerified) VALUES (?,?,?,?,?,?)',</a:t>
            </a:r>
          </a:p>
          <a:p>
            <a:pPr algn="l"/>
            <a:r>
              <a:rPr sz="1300">
                <a:solidFill>
                  <a:srgbClr val="7DD3FC"/>
                </a:solidFill>
                <a:latin typeface="Consolas"/>
              </a:rPr>
              <a:t>    ['Admin','admin@agri.ci',hash,'admin',1,1]);</a:t>
            </a:r>
          </a:p>
          <a:p>
            <a:pPr algn="l"/>
            <a:r>
              <a:rPr sz="1300">
                <a:solidFill>
                  <a:srgbClr val="7DD3FC"/>
                </a:solidFill>
                <a:latin typeface="Consolas"/>
              </a:rPr>
              <a:t>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solidFill>
            <a:srgbClr val="180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72B6"/>
                </a:solidFill>
              </a:rPr>
              <a:t>  Option B  —  Directement en 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458968"/>
            <a:ext cx="10881360" cy="1005840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5458968"/>
            <a:ext cx="64008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623560"/>
            <a:ext cx="1056132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FBD524"/>
                </a:solidFill>
                <a:latin typeface="Consolas"/>
              </a:rPr>
              <a:t>INSERT INTO users (nom, email, motDePasse, role, estActif, isVerified)</a:t>
            </a:r>
          </a:p>
          <a:p>
            <a:pPr algn="l"/>
            <a:r>
              <a:rPr sz="1300">
                <a:solidFill>
                  <a:srgbClr val="7DD3FC"/>
                </a:solidFill>
                <a:latin typeface="Consolas"/>
              </a:rPr>
              <a:t>VALUES ('Admin', 'admin@agri.ci', '&lt;hash_bcrypt&gt;', 'admin', 1, 1);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274320"/>
            <a:ext cx="594360" cy="59436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A0A0A"/>
                </a:solidFill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472B6"/>
                </a:solidFill>
              </a:rPr>
              <a:t>Options avancées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10972800" cy="2743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10881360" cy="1600200"/>
          </a:xfrm>
          <a:prstGeom prst="rect">
            <a:avLst/>
          </a:prstGeom>
          <a:solidFill>
            <a:srgbClr val="0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164592" cy="1600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</a:rPr>
              <a:t>Cloudinary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385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C"/>
                </a:solidFill>
              </a:rPr>
              <a:t>Stockage images produits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353312"/>
            <a:ext cx="6858000" cy="1280160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53312"/>
            <a:ext cx="64008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17904"/>
            <a:ext cx="653796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7DD3FC"/>
                </a:solidFill>
                <a:latin typeface="Consolas"/>
              </a:rPr>
              <a:t>CLD_CLOUD=your_cloud_name</a:t>
            </a:r>
          </a:p>
          <a:p>
            <a:pPr algn="l"/>
            <a:r>
              <a:rPr sz="1300">
                <a:solidFill>
                  <a:srgbClr val="7DD3FC"/>
                </a:solidFill>
                <a:latin typeface="Consolas"/>
              </a:rPr>
              <a:t>CLD_KEY=your_api_key</a:t>
            </a:r>
          </a:p>
          <a:p>
            <a:pPr algn="l"/>
            <a:r>
              <a:rPr sz="1300">
                <a:solidFill>
                  <a:srgbClr val="7DD3FC"/>
                </a:solidFill>
                <a:latin typeface="Consolas"/>
              </a:rPr>
              <a:t>CLD_SECRET=your_api_secret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71800"/>
            <a:ext cx="10881360" cy="1600200"/>
          </a:xfrm>
          <a:prstGeom prst="rect">
            <a:avLst/>
          </a:prstGeom>
          <a:solidFill>
            <a:srgbClr val="261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971800"/>
            <a:ext cx="164592" cy="1600200"/>
          </a:xfrm>
          <a:prstGeom prst="rect">
            <a:avLst/>
          </a:prstGeom>
          <a:solidFill>
            <a:srgbClr val="FBD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154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BD524"/>
                </a:solidFill>
              </a:rPr>
              <a:t>CinetPay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216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C"/>
                </a:solidFill>
              </a:rPr>
              <a:t>Paiements mobiles (CI, SN...)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136392"/>
            <a:ext cx="6858000" cy="1280160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3136392"/>
            <a:ext cx="64008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300984"/>
            <a:ext cx="653796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7DD3FC"/>
                </a:solidFill>
                <a:latin typeface="Consolas"/>
              </a:rPr>
              <a:t>CINETPAY_APIKEY=your_api_key</a:t>
            </a:r>
          </a:p>
          <a:p>
            <a:pPr algn="l"/>
            <a:r>
              <a:rPr sz="1300">
                <a:solidFill>
                  <a:srgbClr val="7DD3FC"/>
                </a:solidFill>
                <a:latin typeface="Consolas"/>
              </a:rPr>
              <a:t>CINETPAY_SITE_ID=your_site_id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754880"/>
            <a:ext cx="10881360" cy="1600200"/>
          </a:xfrm>
          <a:prstGeom prst="rect">
            <a:avLst/>
          </a:prstGeom>
          <a:solidFill>
            <a:srgbClr val="04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754880"/>
            <a:ext cx="164592" cy="1600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937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5E"/>
                </a:solidFill>
              </a:rPr>
              <a:t>WhatsApp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046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C"/>
                </a:solidFill>
              </a:rPr>
              <a:t>Notifications OTP via WhatsApp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4919472"/>
            <a:ext cx="6858000" cy="1280160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4919472"/>
            <a:ext cx="64008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5084064"/>
            <a:ext cx="653796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7DD3FC"/>
                </a:solidFill>
                <a:latin typeface="Consolas"/>
              </a:rPr>
              <a:t>WHATSAPP_ENABLED=true</a:t>
            </a:r>
          </a:p>
          <a:p>
            <a:pPr algn="l"/>
            <a:r>
              <a:rPr sz="1300">
                <a:solidFill>
                  <a:srgbClr val="6A996A"/>
                </a:solidFill>
                <a:latin typeface="Consolas"/>
              </a:rPr>
              <a:t># + scanner le QR code au 1er demarrage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D4BF"/>
                </a:solidFill>
              </a:rPr>
              <a:t>Checklist — Tout est prêt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0972800" cy="2743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3566160" cy="1417320"/>
          </a:xfrm>
          <a:prstGeom prst="rect">
            <a:avLst/>
          </a:prstGeom>
          <a:solidFill>
            <a:srgbClr val="06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128016" cy="1417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41732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0A0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4173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Node.js + MySQL + Git installés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194560"/>
            <a:ext cx="1188720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</a:rPr>
              <a:t>A faire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234440"/>
            <a:ext cx="3566160" cy="1417320"/>
          </a:xfrm>
          <a:prstGeom prst="rect">
            <a:avLst/>
          </a:prstGeom>
          <a:solidFill>
            <a:srgbClr val="06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234440"/>
            <a:ext cx="128016" cy="14173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3440" y="141732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0A0A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14173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Dépôt cloné  →  cd AgriExchange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194560"/>
            <a:ext cx="1188720" cy="3200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1945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</a:rPr>
              <a:t>A faire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234440"/>
            <a:ext cx="3566160" cy="1417320"/>
          </a:xfrm>
          <a:prstGeom prst="rect">
            <a:avLst/>
          </a:prstGeom>
          <a:solidFill>
            <a:srgbClr val="06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234440"/>
            <a:ext cx="128016" cy="141732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58200" y="1417320"/>
            <a:ext cx="502920" cy="50292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0A0A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14173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npm install  dans server/ et client/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2194560"/>
            <a:ext cx="1188720" cy="32004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21945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</a:rPr>
              <a:t>A faire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834640"/>
            <a:ext cx="3566160" cy="1417320"/>
          </a:xfrm>
          <a:prstGeom prst="rect">
            <a:avLst/>
          </a:prstGeom>
          <a:solidFill>
            <a:srgbClr val="06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2834640"/>
            <a:ext cx="128016" cy="1417320"/>
          </a:xfrm>
          <a:prstGeom prst="rect">
            <a:avLst/>
          </a:prstGeom>
          <a:solidFill>
            <a:srgbClr val="FBD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80" y="3017520"/>
            <a:ext cx="502920" cy="502920"/>
          </a:xfrm>
          <a:prstGeom prst="ellipse">
            <a:avLst/>
          </a:prstGeom>
          <a:solidFill>
            <a:srgbClr val="FBD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0A0A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30175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server/.env  créé et configuré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3794760"/>
            <a:ext cx="1188720" cy="320040"/>
          </a:xfrm>
          <a:prstGeom prst="rect">
            <a:avLst/>
          </a:prstGeom>
          <a:solidFill>
            <a:srgbClr val="FBD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794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</a:rPr>
              <a:t>A faire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40" y="2834640"/>
            <a:ext cx="3566160" cy="1417320"/>
          </a:xfrm>
          <a:prstGeom prst="rect">
            <a:avLst/>
          </a:prstGeom>
          <a:solidFill>
            <a:srgbClr val="06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34840" y="2834640"/>
            <a:ext cx="128016" cy="14173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663440" y="3017520"/>
            <a:ext cx="502920" cy="5029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0A0A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76088" y="30175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Base agriexchange créée (MySQL)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3794760"/>
            <a:ext cx="1188720" cy="3200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3794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</a:rPr>
              <a:t>A faire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2834640"/>
            <a:ext cx="3566160" cy="1417320"/>
          </a:xfrm>
          <a:prstGeom prst="rect">
            <a:avLst/>
          </a:prstGeom>
          <a:solidFill>
            <a:srgbClr val="06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2834640"/>
            <a:ext cx="128016" cy="14173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458200" y="3017520"/>
            <a:ext cx="502920" cy="5029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0A0A"/>
                </a:solidFill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0848" y="30175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Migration lancée  →  migrate.js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58200" y="3794760"/>
            <a:ext cx="1188720" cy="3200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200" y="3794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</a:rPr>
              <a:t>A faire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34840"/>
            <a:ext cx="3566160" cy="1417320"/>
          </a:xfrm>
          <a:prstGeom prst="rect">
            <a:avLst/>
          </a:prstGeom>
          <a:solidFill>
            <a:srgbClr val="06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" y="4434840"/>
            <a:ext cx="128016" cy="1417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68680" y="461772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0A0A"/>
                </a:solidFill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81328" y="46177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Serveur démarré  (port 5000)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8680" y="5394960"/>
            <a:ext cx="1188720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5394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</a:rPr>
              <a:t>A faire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34840" y="4434840"/>
            <a:ext cx="3566160" cy="1417320"/>
          </a:xfrm>
          <a:prstGeom prst="rect">
            <a:avLst/>
          </a:prstGeom>
          <a:solidFill>
            <a:srgbClr val="06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34840" y="4434840"/>
            <a:ext cx="128016" cy="1417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63440" y="461772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0A0A"/>
                </a:solidFill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76088" y="46177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Client démarré   (port 5173)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63440" y="5394960"/>
            <a:ext cx="1188720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63440" y="5394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</a:rPr>
              <a:t>A faire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0" y="4434840"/>
            <a:ext cx="3566160" cy="1417320"/>
          </a:xfrm>
          <a:prstGeom prst="rect">
            <a:avLst/>
          </a:prstGeom>
          <a:solidFill>
            <a:srgbClr val="06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29600" y="4434840"/>
            <a:ext cx="128016" cy="1417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458200" y="461772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0A0A"/>
                </a:solidFill>
              </a:rPr>
              <a:t>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70848" y="46177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Compte admin créé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58200" y="5394960"/>
            <a:ext cx="1188720" cy="3200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58200" y="5394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</a:rPr>
              <a:t>A faire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88552" y="0"/>
            <a:ext cx="34747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54312" y="0"/>
            <a:ext cx="34747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20072" y="0"/>
            <a:ext cx="347472" cy="68580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85832" y="0"/>
            <a:ext cx="347472" cy="6858000"/>
          </a:xfrm>
          <a:prstGeom prst="rect">
            <a:avLst/>
          </a:prstGeom>
          <a:solidFill>
            <a:srgbClr val="FBD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51592" y="0"/>
            <a:ext cx="347472" cy="6858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17352" y="0"/>
            <a:ext cx="347472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83112" y="0"/>
            <a:ext cx="347472" cy="68580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48872" y="0"/>
            <a:ext cx="34747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914632" y="0"/>
            <a:ext cx="34747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71600" y="1280160"/>
            <a:ext cx="1463040" cy="14630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280160"/>
            <a:ext cx="1463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A0A0A"/>
                </a:solidFill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Installation terminée 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331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ACC"/>
                </a:solidFill>
              </a:rPr>
              <a:t>Votre plateforme AgriExchange est opérationnelle.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200400"/>
            <a:ext cx="1783080" cy="548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20040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</a:rPr>
              <a:t>Produits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3200400"/>
            <a:ext cx="1783080" cy="548640"/>
          </a:xfrm>
          <a:prstGeom prst="rect">
            <a:avLst/>
          </a:prstGeom>
          <a:solidFill>
            <a:srgbClr val="FBD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320040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</a:rPr>
              <a:t>Abonnements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0" y="3200400"/>
            <a:ext cx="178308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320040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</a:rPr>
              <a:t>Contacts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3200400"/>
            <a:ext cx="1783080" cy="5486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320040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</a:rPr>
              <a:t>Paiements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3200400"/>
            <a:ext cx="1783080" cy="5486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320040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</a:rPr>
              <a:t>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C"/>
                </a:solidFill>
              </a:rPr>
              <a:t>Pour toute question, ouvrez une issue sur GitHub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7790"/>
                </a:solidFill>
              </a:rPr>
              <a:t>AgriExchange / VivriMarket  —  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